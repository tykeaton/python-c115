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3"/>
  </p:notesMasterIdLst>
  <p:handoutMasterIdLst>
    <p:handoutMasterId r:id="rId24"/>
  </p:handoutMasterIdLst>
  <p:sldIdLst>
    <p:sldId id="326" r:id="rId2"/>
    <p:sldId id="332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7" r:id="rId11"/>
    <p:sldId id="363" r:id="rId12"/>
    <p:sldId id="358" r:id="rId13"/>
    <p:sldId id="359" r:id="rId14"/>
    <p:sldId id="360" r:id="rId15"/>
    <p:sldId id="361" r:id="rId16"/>
    <p:sldId id="362" r:id="rId17"/>
    <p:sldId id="364" r:id="rId18"/>
    <p:sldId id="365" r:id="rId19"/>
    <p:sldId id="366" r:id="rId20"/>
    <p:sldId id="367" r:id="rId21"/>
    <p:sldId id="368" r:id="rId22"/>
  </p:sldIdLst>
  <p:sldSz cx="9144000" cy="6858000" type="screen4x3"/>
  <p:notesSz cx="6858000" cy="914717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>
        <p:scale>
          <a:sx n="100" d="100"/>
          <a:sy n="100" d="100"/>
        </p:scale>
        <p:origin x="-1944" y="-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29" d="100"/>
          <a:sy n="29" d="100"/>
        </p:scale>
        <p:origin x="-1084" y="-89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342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3738"/>
            <a:ext cx="4559300" cy="341630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411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9975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9975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pPr>
              <a:defRPr/>
            </a:pPr>
            <a:fld id="{4FAC291B-EA17-4312-9877-31E7DA24F0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622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kumimoji="1" lang="en-US" altLang="en-US" sz="2400"/>
          </a:p>
        </p:txBody>
      </p:sp>
      <p:pic>
        <p:nvPicPr>
          <p:cNvPr id="5" name="Picture 3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kumimoji="1" lang="en-US" altLang="en-US" sz="2400"/>
          </a:p>
        </p:txBody>
      </p:sp>
      <p:pic>
        <p:nvPicPr>
          <p:cNvPr id="7" name="Picture 5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javalogo52x88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33600"/>
            <a:ext cx="5937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721600" cy="11430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 smtClean="0"/>
              <a:t>Java for PL/SQL Developers</a:t>
            </a: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1084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522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51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ED67B-3C57-45B2-9DFC-78E79C921C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8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D1936-304E-437C-8C79-ACB210CFF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093C2-DE0D-43A6-BB75-10DA49F068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7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733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3D049-00E7-4969-BC60-69D409405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9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7E098-63CC-433E-8825-87E37FF54C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9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4152C-1297-477A-A62D-A792C0CB2A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5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D1D96-602D-4ADC-88B5-23E22D50E8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7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5159D-906D-47C3-A563-4064DD7DA5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5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BDD92-8CB0-4AF5-A6B6-2F254024B1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4E94E-683E-4643-820C-D314A24735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1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81000"/>
            <a:ext cx="55626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E73FC-689F-4249-AA80-41F465CCB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14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66800" y="1752600"/>
            <a:ext cx="762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3BE29-D6AC-45A8-AD0F-802BF526CE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9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609600" y="228600"/>
            <a:ext cx="8239125" cy="6391275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kumimoji="1" lang="en-US" altLang="en-US" sz="2400"/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016000" y="1600200"/>
            <a:ext cx="76708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0800"/>
            <a:ext cx="1181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40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144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2813" y="61071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1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81813" y="61071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CDAEC84-52CE-478D-81BD-092783F938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362200" y="2743200"/>
            <a:ext cx="4953000" cy="16626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1" dirty="0" smtClean="0"/>
              <a:t>CIT-115 Python</a:t>
            </a:r>
            <a:endParaRPr lang="en-US" altLang="en-US" sz="2800" b="1" dirty="0"/>
          </a:p>
          <a:p>
            <a:r>
              <a:rPr lang="en-US" altLang="en-US" sz="2800" b="1" dirty="0" smtClean="0"/>
              <a:t>Arithmetic Check Point</a:t>
            </a:r>
            <a:endParaRPr lang="en-US" altLang="en-US" sz="2800" b="1" dirty="0"/>
          </a:p>
          <a:p>
            <a:pPr algn="l"/>
            <a:endParaRPr lang="en-US" altLang="en-US" sz="2800" b="1" dirty="0"/>
          </a:p>
          <a:p>
            <a:r>
              <a:rPr lang="en-US" altLang="en-US" sz="1800" b="1" dirty="0" smtClean="0"/>
              <a:t>Prof. Brian </a:t>
            </a:r>
            <a:r>
              <a:rPr lang="en-US" altLang="en-US" sz="1800" b="1" dirty="0"/>
              <a:t>Candido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Arithmetic Operators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66800" y="1722438"/>
            <a:ext cx="7696200" cy="45259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en-US" sz="2800" kern="0" dirty="0" smtClean="0"/>
              <a:t>Python operator precedence: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sz="2400" kern="0" dirty="0" smtClean="0"/>
              <a:t>Operations enclosed in parentheses</a:t>
            </a:r>
          </a:p>
          <a:p>
            <a:pPr marL="1371600" lvl="2" indent="-514350" eaLnBrk="1" hangingPunct="1">
              <a:defRPr/>
            </a:pPr>
            <a:r>
              <a:rPr lang="en-US" altLang="en-US" sz="2000" kern="0" dirty="0" smtClean="0"/>
              <a:t>Forces operations to be performed before others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sz="2400" kern="0" dirty="0" smtClean="0"/>
              <a:t>Exponentiation (**)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sz="2400" kern="0" dirty="0" smtClean="0"/>
              <a:t>Multiplication (*), division (/ and //), and remainder (%)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sz="2400" kern="0" dirty="0" smtClean="0"/>
              <a:t>Addition (+) and subtraction (-)</a:t>
            </a:r>
          </a:p>
          <a:p>
            <a:pPr marL="0" indent="0" eaLnBrk="1" hangingPunct="1">
              <a:buNone/>
              <a:defRPr/>
            </a:pPr>
            <a:r>
              <a:rPr lang="en-US" altLang="en-US" sz="2800" kern="0" dirty="0" smtClean="0"/>
              <a:t>Higher precedence performed first</a:t>
            </a:r>
          </a:p>
          <a:p>
            <a:pPr lvl="1" eaLnBrk="1" hangingPunct="1">
              <a:defRPr/>
            </a:pPr>
            <a:r>
              <a:rPr lang="en-US" altLang="en-US" sz="2400" kern="0" dirty="0" smtClean="0"/>
              <a:t>Same precedence operators execute from left to right</a:t>
            </a:r>
            <a:endParaRPr lang="en-US" altLang="en-US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Arithmetic Operators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4400" y="1600200"/>
            <a:ext cx="7848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u="sng" kern="0" dirty="0" smtClean="0"/>
              <a:t>Exponent operator (</a:t>
            </a:r>
            <a:r>
              <a:rPr lang="en-US" u="sng" kern="0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u="sng" kern="0" dirty="0" smtClean="0"/>
              <a:t>)</a:t>
            </a:r>
            <a:r>
              <a:rPr lang="en-US" kern="0" dirty="0" smtClean="0"/>
              <a:t>: Raises a number to a power</a:t>
            </a:r>
          </a:p>
          <a:p>
            <a:pPr lvl="1" eaLnBrk="1" hangingPunct="1">
              <a:defRPr/>
            </a:pPr>
            <a:r>
              <a:rPr lang="en-US" kern="0" dirty="0" smtClean="0">
                <a:latin typeface="Courier New" pitchFamily="49" charset="0"/>
                <a:cs typeface="Courier New" pitchFamily="49" charset="0"/>
              </a:rPr>
              <a:t>x ** y same as: </a:t>
            </a:r>
            <a:r>
              <a:rPr lang="en-US" kern="0" dirty="0" err="1" smtClean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kern="0" baseline="30000" dirty="0" err="1" smtClean="0">
                <a:latin typeface="Courier New" pitchFamily="49" charset="0"/>
                <a:cs typeface="Courier New" pitchFamily="49" charset="0"/>
              </a:rPr>
              <a:t>y</a:t>
            </a:r>
            <a:endParaRPr lang="en-US" kern="0" baseline="30000" dirty="0" smtClean="0"/>
          </a:p>
          <a:p>
            <a:pPr marL="0" indent="0" eaLnBrk="1" hangingPunct="1">
              <a:buNone/>
              <a:defRPr/>
            </a:pPr>
            <a:r>
              <a:rPr lang="en-US" kern="0" dirty="0" smtClean="0">
                <a:latin typeface="+mj-lt"/>
                <a:cs typeface="Courier New" pitchFamily="49" charset="0"/>
              </a:rPr>
              <a:t>Remainder operator (</a:t>
            </a:r>
            <a:r>
              <a:rPr lang="en-US" kern="0" dirty="0" smtClean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kern="0" dirty="0" smtClean="0">
                <a:latin typeface="+mj-lt"/>
                <a:cs typeface="Courier New" pitchFamily="49" charset="0"/>
              </a:rPr>
              <a:t>): Performs division and returns the remainder</a:t>
            </a:r>
          </a:p>
          <a:p>
            <a:pPr lvl="1" eaLnBrk="1" hangingPunct="1">
              <a:defRPr/>
            </a:pPr>
            <a:r>
              <a:rPr lang="en-US" kern="0" dirty="0" smtClean="0">
                <a:latin typeface="+mj-lt"/>
                <a:cs typeface="Courier New" pitchFamily="49" charset="0"/>
              </a:rPr>
              <a:t>a.k.a. modulus operator</a:t>
            </a:r>
          </a:p>
          <a:p>
            <a:pPr lvl="1" eaLnBrk="1" hangingPunct="1">
              <a:defRPr/>
            </a:pPr>
            <a:r>
              <a:rPr lang="en-US" kern="0" dirty="0" smtClean="0">
                <a:latin typeface="+mj-lt"/>
                <a:cs typeface="Courier New" pitchFamily="49" charset="0"/>
              </a:rPr>
              <a:t>e.g., </a:t>
            </a:r>
            <a:r>
              <a:rPr lang="en-US" kern="0" dirty="0" smtClean="0">
                <a:latin typeface="Courier New" pitchFamily="49" charset="0"/>
                <a:cs typeface="Courier New" pitchFamily="49" charset="0"/>
              </a:rPr>
              <a:t>4%2=0, 5%2=1</a:t>
            </a:r>
          </a:p>
          <a:p>
            <a:pPr lvl="1" eaLnBrk="1" hangingPunct="1">
              <a:defRPr/>
            </a:pPr>
            <a:r>
              <a:rPr lang="en-US" kern="0" dirty="0" smtClean="0">
                <a:latin typeface="+mj-lt"/>
                <a:cs typeface="Courier New" pitchFamily="49" charset="0"/>
              </a:rPr>
              <a:t>Typically used to convert times and distances, and to detect odd or even numbers</a:t>
            </a:r>
            <a:endParaRPr lang="en-US" kern="0" dirty="0"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92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Mixing Data Types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66800" y="1600200"/>
            <a:ext cx="76200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800" kern="0" dirty="0" smtClean="0"/>
              <a:t>Data type resulting from math operation depends on data types of operands</a:t>
            </a:r>
          </a:p>
          <a:p>
            <a:pPr lvl="1" eaLnBrk="1" hangingPunct="1"/>
            <a:r>
              <a:rPr lang="en-US" altLang="en-US" sz="2400" kern="0" dirty="0" smtClean="0"/>
              <a:t>Two </a:t>
            </a:r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kern="0" dirty="0" smtClean="0"/>
              <a:t> values: result is an </a:t>
            </a:r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altLang="en-US" sz="24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en-US" sz="2400" kern="0" dirty="0" smtClean="0"/>
              <a:t>Two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sz="2400" kern="0" dirty="0" smtClean="0"/>
              <a:t> values: result is a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lvl="1" eaLnBrk="1" hangingPunct="1"/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kern="0" dirty="0" smtClean="0"/>
              <a:t> and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sz="2400" kern="0" dirty="0" smtClean="0"/>
              <a:t>: </a:t>
            </a:r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kern="0" dirty="0" smtClean="0"/>
              <a:t> temporarily converted to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sz="2400" kern="0" dirty="0" smtClean="0"/>
              <a:t>, result of the operation is a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lvl="2" eaLnBrk="1" hangingPunct="1"/>
            <a:r>
              <a:rPr lang="en-US" altLang="en-US" sz="2000" kern="0" dirty="0" smtClean="0"/>
              <a:t>Mixed-type expression</a:t>
            </a:r>
          </a:p>
          <a:p>
            <a:pPr lvl="1" eaLnBrk="1" hangingPunct="1"/>
            <a:r>
              <a:rPr lang="en-US" altLang="en-US" sz="2400" kern="0" dirty="0" smtClean="0"/>
              <a:t>Type conversion of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sz="2400" kern="0" dirty="0" smtClean="0"/>
              <a:t> to </a:t>
            </a:r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kern="0" dirty="0" smtClean="0"/>
              <a:t> causes truncation of fractional part</a:t>
            </a:r>
            <a:endParaRPr lang="he-IL" altLang="en-US" sz="2400" kern="0" dirty="0" smtClean="0"/>
          </a:p>
        </p:txBody>
      </p:sp>
    </p:spTree>
    <p:extLst>
      <p:ext uri="{BB962C8B-B14F-4D97-AF65-F5344CB8AC3E}">
        <p14:creationId xmlns:p14="http://schemas.microsoft.com/office/powerpoint/2010/main" val="345972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Data Type Conversions -Casting 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>
          <a:xfrm>
            <a:off x="1066800" y="1600200"/>
            <a:ext cx="7620000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sz="2800" kern="0" dirty="0" smtClean="0">
                <a:latin typeface="Courier New" pitchFamily="49" charset="0"/>
                <a:cs typeface="Courier New" pitchFamily="49" charset="0"/>
              </a:rPr>
              <a:t>input </a:t>
            </a:r>
            <a:r>
              <a:rPr lang="en-US" sz="2800" kern="0" dirty="0" smtClean="0"/>
              <a:t>function always returns a string</a:t>
            </a:r>
          </a:p>
          <a:p>
            <a:pPr eaLnBrk="1" hangingPunct="1">
              <a:defRPr/>
            </a:pPr>
            <a:r>
              <a:rPr lang="en-US" sz="2800" kern="0" dirty="0" smtClean="0"/>
              <a:t>Built-in functions convert between data types</a:t>
            </a:r>
          </a:p>
          <a:p>
            <a:pPr lvl="1" eaLnBrk="1" hangingPunct="1">
              <a:defRPr/>
            </a:pPr>
            <a:r>
              <a:rPr lang="en-US" sz="2400" kern="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item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kern="0" dirty="0" smtClean="0"/>
              <a:t> converts 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item</a:t>
            </a:r>
            <a:r>
              <a:rPr lang="en-US" sz="2400" kern="0" dirty="0" smtClean="0"/>
              <a:t> to an </a:t>
            </a:r>
            <a:r>
              <a:rPr lang="en-US" sz="2400" kern="0" dirty="0" err="1" smtClean="0">
                <a:latin typeface="Courier New" pitchFamily="49" charset="0"/>
                <a:cs typeface="Courier New" pitchFamily="49" charset="0"/>
              </a:rPr>
              <a:t>int</a:t>
            </a:r>
            <a:endParaRPr lang="en-US" sz="2400" kern="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defRPr/>
            </a:pP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float(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item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400" kern="0" dirty="0" smtClean="0"/>
              <a:t> converts 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item</a:t>
            </a:r>
            <a:r>
              <a:rPr lang="en-US" sz="2400" kern="0" dirty="0" smtClean="0"/>
              <a:t> to a 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float</a:t>
            </a:r>
          </a:p>
          <a:p>
            <a:pPr marL="457200" lvl="1" indent="0" eaLnBrk="1" hangingPunct="1">
              <a:buNone/>
              <a:defRPr/>
            </a:pPr>
            <a:r>
              <a:rPr lang="en-US" sz="2400" kern="0" dirty="0" err="1" smtClean="0">
                <a:latin typeface="Courier New" pitchFamily="49" charset="0"/>
                <a:cs typeface="Courier New" pitchFamily="49" charset="0"/>
              </a:rPr>
              <a:t>fNumber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2400" kern="0" dirty="0" err="1" smtClean="0">
                <a:latin typeface="Courier New" pitchFamily="49" charset="0"/>
                <a:cs typeface="Courier New" pitchFamily="49" charset="0"/>
              </a:rPr>
              <a:t>sInput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57200" lvl="1" indent="0" eaLnBrk="1" hangingPunct="1">
              <a:buNone/>
              <a:defRPr/>
            </a:pPr>
            <a:endParaRPr lang="en-US" sz="2400" kern="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defRPr/>
            </a:pPr>
            <a:r>
              <a:rPr lang="en-US" sz="2400" u="sng" kern="0" dirty="0" smtClean="0">
                <a:latin typeface="+mj-lt"/>
                <a:cs typeface="Courier New" pitchFamily="49" charset="0"/>
              </a:rPr>
              <a:t>Nested function call</a:t>
            </a:r>
            <a:r>
              <a:rPr lang="en-US" sz="2400" kern="0" dirty="0" smtClean="0">
                <a:latin typeface="+mj-lt"/>
                <a:cs typeface="Courier New" pitchFamily="49" charset="0"/>
              </a:rPr>
              <a:t>: general format: 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function1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function2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i="1" kern="0" dirty="0" smtClean="0">
                <a:latin typeface="Courier New" pitchFamily="49" charset="0"/>
                <a:cs typeface="Courier New" pitchFamily="49" charset="0"/>
              </a:rPr>
              <a:t>argument</a:t>
            </a:r>
            <a:r>
              <a:rPr lang="en-US" sz="2400" kern="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pPr lvl="2" eaLnBrk="1" hangingPunct="1">
              <a:defRPr/>
            </a:pPr>
            <a:r>
              <a:rPr lang="en-US" sz="2000" kern="0" dirty="0" smtClean="0">
                <a:latin typeface="+mj-lt"/>
                <a:cs typeface="Courier New" pitchFamily="49" charset="0"/>
              </a:rPr>
              <a:t>value returned by function2 is passed to function1</a:t>
            </a:r>
          </a:p>
          <a:p>
            <a:pPr lvl="1" eaLnBrk="1" hangingPunct="1">
              <a:defRPr/>
            </a:pPr>
            <a:r>
              <a:rPr lang="en-US" sz="2400" kern="0" dirty="0" smtClean="0">
                <a:latin typeface="+mj-lt"/>
                <a:cs typeface="Courier New" pitchFamily="49" charset="0"/>
              </a:rPr>
              <a:t>Type conversion only works if item is valid numeric value, otherwise, throws exception</a:t>
            </a:r>
            <a:endParaRPr lang="he-IL" sz="2400" kern="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8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Formatting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219200" y="1600200"/>
            <a:ext cx="7467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800" kern="0" smtClean="0"/>
              <a:t>Can format display of numbers on screen using built-in </a:t>
            </a:r>
            <a:r>
              <a:rPr lang="en-US" altLang="en-US" sz="2800" kern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en-US" sz="2800" kern="0" smtClean="0"/>
              <a:t> function</a:t>
            </a:r>
          </a:p>
          <a:p>
            <a:pPr lvl="1" eaLnBrk="1" hangingPunct="1"/>
            <a:r>
              <a:rPr lang="en-US" altLang="en-US" sz="2400" kern="0" smtClean="0"/>
              <a:t>Two arguments:</a:t>
            </a:r>
          </a:p>
          <a:p>
            <a:pPr lvl="2" eaLnBrk="1" hangingPunct="1"/>
            <a:r>
              <a:rPr lang="en-US" altLang="en-US" sz="2000" kern="0" smtClean="0"/>
              <a:t>Numeric value to be formatted</a:t>
            </a:r>
          </a:p>
          <a:p>
            <a:pPr lvl="2" eaLnBrk="1" hangingPunct="1"/>
            <a:r>
              <a:rPr lang="en-US" altLang="en-US" sz="2000" kern="0" smtClean="0"/>
              <a:t>Format specifier</a:t>
            </a:r>
          </a:p>
          <a:p>
            <a:pPr lvl="1" eaLnBrk="1" hangingPunct="1"/>
            <a:r>
              <a:rPr lang="en-US" altLang="en-US" sz="2400" kern="0" smtClean="0"/>
              <a:t>Returns string containing formatted number</a:t>
            </a:r>
          </a:p>
          <a:p>
            <a:pPr lvl="1" eaLnBrk="1" hangingPunct="1"/>
            <a:r>
              <a:rPr lang="en-US" altLang="en-US" sz="2400" kern="0" smtClean="0"/>
              <a:t>Format specifier typically includes precision and data type</a:t>
            </a:r>
          </a:p>
          <a:p>
            <a:pPr lvl="2" eaLnBrk="1" hangingPunct="1"/>
            <a:r>
              <a:rPr lang="en-US" altLang="en-US" sz="2000" kern="0" smtClean="0"/>
              <a:t>Can be used to indicate scientific notation, comma separators, and the minimum field width used to display the value</a:t>
            </a:r>
            <a:endParaRPr lang="he-IL" altLang="en-US" sz="2000" kern="0" dirty="0" smtClean="0"/>
          </a:p>
        </p:txBody>
      </p:sp>
    </p:spTree>
    <p:extLst>
      <p:ext uri="{BB962C8B-B14F-4D97-AF65-F5344CB8AC3E}">
        <p14:creationId xmlns:p14="http://schemas.microsoft.com/office/powerpoint/2010/main" val="42060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Formatting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43000" y="1447800"/>
            <a:ext cx="7543800" cy="518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en-US" sz="2800" kern="0" dirty="0" smtClean="0"/>
              <a:t>The </a:t>
            </a:r>
            <a:r>
              <a:rPr lang="en-US" altLang="en-US" sz="28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800" kern="0" dirty="0" smtClean="0"/>
              <a:t> symbol can be used in the format string of </a:t>
            </a:r>
            <a:r>
              <a:rPr lang="en-US" altLang="en-US" sz="28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en-US" sz="2800" kern="0" dirty="0" smtClean="0"/>
              <a:t> function to format number as percentage</a:t>
            </a:r>
          </a:p>
          <a:p>
            <a:pPr eaLnBrk="1" hangingPunct="1"/>
            <a:r>
              <a:rPr lang="en-US" altLang="en-US" sz="2800" kern="0" dirty="0" smtClean="0"/>
              <a:t>To format an integer using </a:t>
            </a:r>
            <a:r>
              <a:rPr lang="en-US" altLang="en-US" sz="28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en-US" sz="2800" kern="0" dirty="0" smtClean="0"/>
              <a:t> function:</a:t>
            </a:r>
          </a:p>
          <a:p>
            <a:pPr lvl="1" eaLnBrk="1" hangingPunct="1"/>
            <a:r>
              <a:rPr lang="en-US" altLang="en-US" sz="2400" kern="0" dirty="0" smtClean="0"/>
              <a:t>Use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2400" kern="0" dirty="0" smtClean="0"/>
              <a:t> as the type designator</a:t>
            </a:r>
          </a:p>
          <a:p>
            <a:pPr lvl="1" eaLnBrk="1" hangingPunct="1"/>
            <a:r>
              <a:rPr lang="en-US" altLang="en-US" sz="2400" kern="0" dirty="0" smtClean="0"/>
              <a:t>Do not specify precision</a:t>
            </a:r>
          </a:p>
          <a:p>
            <a:pPr lvl="1" eaLnBrk="1" hangingPunct="1"/>
            <a:r>
              <a:rPr lang="en-US" altLang="en-US" sz="2400" kern="0" dirty="0" smtClean="0"/>
              <a:t>Can still use 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en-US" sz="2400" kern="0" dirty="0" smtClean="0"/>
              <a:t> function to set field width or comma separator</a:t>
            </a:r>
          </a:p>
          <a:p>
            <a:pPr marL="457200" lvl="1" indent="0" eaLnBrk="1" hangingPunct="1">
              <a:buNone/>
            </a:pPr>
            <a:endParaRPr lang="en-US" altLang="en-US" sz="2400" kern="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868969"/>
              </p:ext>
            </p:extLst>
          </p:nvPr>
        </p:nvGraphicFramePr>
        <p:xfrm>
          <a:off x="1524000" y="5029200"/>
          <a:ext cx="7010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pPr marL="457200" lvl="1" indent="0" eaLnBrk="1" hangingPunct="1">
                        <a:buFontTx/>
                        <a:buNone/>
                      </a:pPr>
                      <a:r>
                        <a:rPr lang="en-US" altLang="en-US" sz="2000" kern="0" dirty="0" err="1" smtClean="0"/>
                        <a:t>fNumber</a:t>
                      </a:r>
                      <a:r>
                        <a:rPr lang="en-US" altLang="en-US" sz="2000" kern="0" dirty="0" smtClean="0"/>
                        <a:t> = 12345.6789</a:t>
                      </a:r>
                    </a:p>
                    <a:p>
                      <a:pPr marL="457200" lvl="1" indent="0" eaLnBrk="1" hangingPunct="1">
                        <a:buFontTx/>
                        <a:buNone/>
                      </a:pPr>
                      <a:r>
                        <a:rPr lang="en-US" altLang="en-US" sz="2000" kern="0" dirty="0" smtClean="0"/>
                        <a:t>Format(</a:t>
                      </a:r>
                      <a:r>
                        <a:rPr lang="en-US" altLang="en-US" sz="2000" kern="0" dirty="0" err="1" smtClean="0"/>
                        <a:t>fNumber</a:t>
                      </a:r>
                      <a:r>
                        <a:rPr lang="en-US" altLang="en-US" sz="2000" kern="0" dirty="0" smtClean="0"/>
                        <a:t>, ‘,.2f’)</a:t>
                      </a:r>
                    </a:p>
                    <a:p>
                      <a:pPr marL="457200" lvl="1" indent="0" eaLnBrk="1" hangingPunct="1">
                        <a:buFontTx/>
                        <a:buNone/>
                      </a:pPr>
                      <a:r>
                        <a:rPr lang="en-US" altLang="en-US" sz="2000" kern="0" dirty="0" smtClean="0"/>
                        <a:t>12,345.68</a:t>
                      </a:r>
                      <a:endParaRPr lang="he-IL" altLang="en-US" sz="2000" kern="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 defTabSz="914400" rtl="0" eaLnBrk="1" latinLnBrk="0" hangingPunct="1">
                        <a:buFontTx/>
                        <a:buNone/>
                      </a:pPr>
                      <a:r>
                        <a:rPr lang="en-US" altLang="en-US" sz="2000" b="1" kern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fNumber</a:t>
                      </a:r>
                      <a:r>
                        <a:rPr lang="en-US" altLang="en-US" sz="2000" b="1" kern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= 12345.6789</a:t>
                      </a:r>
                    </a:p>
                    <a:p>
                      <a:pPr marL="457200" lvl="1" indent="0" algn="l" defTabSz="914400" rtl="0" eaLnBrk="1" latinLnBrk="0" hangingPunct="1">
                        <a:buFontTx/>
                        <a:buNone/>
                      </a:pPr>
                      <a:r>
                        <a:rPr lang="en-US" altLang="en-US" sz="2000" b="1" kern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Format(</a:t>
                      </a:r>
                      <a:r>
                        <a:rPr lang="en-US" altLang="en-US" sz="2000" b="1" kern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fNumber</a:t>
                      </a:r>
                      <a:r>
                        <a:rPr lang="en-US" altLang="en-US" sz="2000" b="1" kern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, ‘12,.2f’)</a:t>
                      </a:r>
                    </a:p>
                    <a:p>
                      <a:pPr marL="457200" lvl="1" indent="0" algn="l" defTabSz="914400" rtl="0" eaLnBrk="1" latinLnBrk="0" hangingPunct="1">
                        <a:buFontTx/>
                        <a:buNone/>
                      </a:pPr>
                      <a:r>
                        <a:rPr lang="en-US" altLang="en-US" sz="2000" b="1" kern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___12,345.68</a:t>
                      </a:r>
                      <a:endParaRPr lang="he-IL" altLang="en-US" sz="2000" b="1" kern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60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sz="4000" dirty="0" smtClean="0"/>
              <a:t>Python Named Constants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90600" y="1600200"/>
            <a:ext cx="76962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000" kern="0" dirty="0" smtClean="0"/>
              <a:t>You should use named constants instead of “hard coding” such as .069</a:t>
            </a:r>
          </a:p>
          <a:p>
            <a:r>
              <a:rPr lang="en-US" altLang="en-US" sz="2000" kern="0" dirty="0" smtClean="0"/>
              <a:t>A named constant is a name that represents a value that does not change during the program's execution.</a:t>
            </a:r>
          </a:p>
          <a:p>
            <a:r>
              <a:rPr lang="en-US" altLang="en-US" sz="2000" kern="0" dirty="0" smtClean="0"/>
              <a:t>Example:</a:t>
            </a:r>
            <a:br>
              <a:rPr lang="en-US" altLang="en-US" sz="2000" kern="0" dirty="0" smtClean="0"/>
            </a:br>
            <a:r>
              <a:rPr lang="en-US" altLang="en-US" sz="2000" kern="0" dirty="0" smtClean="0"/>
              <a:t/>
            </a:r>
            <a:br>
              <a:rPr lang="en-US" altLang="en-US" sz="2000" kern="0" dirty="0" smtClean="0"/>
            </a:br>
            <a:r>
              <a:rPr lang="en-US" altLang="en-US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INTEREST_RATE</a:t>
            </a: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0.069</a:t>
            </a:r>
            <a:r>
              <a:rPr lang="en-US" altLang="en-US" sz="2800" kern="0" dirty="0" smtClean="0"/>
              <a:t/>
            </a:r>
            <a:br>
              <a:rPr lang="en-US" altLang="en-US" sz="2800" kern="0" dirty="0" smtClean="0"/>
            </a:br>
            <a:endParaRPr lang="en-US" altLang="en-US" sz="2800" kern="0" dirty="0" smtClean="0"/>
          </a:p>
          <a:p>
            <a:r>
              <a:rPr lang="en-US" altLang="en-US" sz="2000" kern="0" dirty="0" smtClean="0"/>
              <a:t>This creates a named constant named </a:t>
            </a:r>
            <a:r>
              <a:rPr lang="en-US" alt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nINTEREST_RATE</a:t>
            </a:r>
            <a:r>
              <a:rPr lang="en-US" altLang="en-US" sz="2000" kern="0" dirty="0" smtClean="0"/>
              <a:t>, assigned the value 0.069. It can be used instead of the magic number:</a:t>
            </a:r>
            <a:br>
              <a:rPr lang="en-US" altLang="en-US" sz="2000" kern="0" dirty="0" smtClean="0"/>
            </a:br>
            <a:r>
              <a:rPr lang="en-US" altLang="en-US" sz="2000" kern="0" dirty="0" smtClean="0"/>
              <a:t/>
            </a:r>
            <a:br>
              <a:rPr lang="en-US" altLang="en-US" sz="2000" kern="0" dirty="0" smtClean="0"/>
            </a:br>
            <a:r>
              <a:rPr lang="en-US" altLang="en-US" sz="2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amount = balance * </a:t>
            </a:r>
            <a:r>
              <a:rPr lang="en-US" altLang="en-US" sz="2400" kern="0">
                <a:latin typeface="Courier New" panose="02070309020205020404" pitchFamily="49" charset="0"/>
                <a:cs typeface="Courier New" panose="02070309020205020404" pitchFamily="49" charset="0"/>
              </a:rPr>
              <a:t>nINTEREST_RATE</a:t>
            </a:r>
            <a:endParaRPr lang="en-US" altLang="en-US" sz="2000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87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1828800"/>
            <a:ext cx="7467600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3000" dirty="0" err="1" smtClean="0"/>
              <a:t>sValue</a:t>
            </a:r>
            <a:r>
              <a:rPr lang="en-US" altLang="en-US" sz="3000" dirty="0" smtClean="0"/>
              <a:t> = “123.45”</a:t>
            </a:r>
            <a:br>
              <a:rPr lang="en-US" altLang="en-US" sz="3000" dirty="0" smtClean="0"/>
            </a:br>
            <a:endParaRPr lang="en-US" altLang="en-US" sz="3000" dirty="0" smtClean="0"/>
          </a:p>
          <a:p>
            <a:pPr algn="l"/>
            <a:r>
              <a:rPr lang="en-US" altLang="en-US" sz="3000" dirty="0" smtClean="0"/>
              <a:t>How to convert </a:t>
            </a:r>
            <a:r>
              <a:rPr lang="en-US" altLang="en-US" sz="3000" dirty="0" err="1" smtClean="0"/>
              <a:t>sValue</a:t>
            </a:r>
            <a:r>
              <a:rPr lang="en-US" altLang="en-US" sz="3000" dirty="0" smtClean="0"/>
              <a:t> to a </a:t>
            </a:r>
            <a:r>
              <a:rPr lang="en-US" altLang="en-US" sz="3000" b="1" dirty="0" smtClean="0"/>
              <a:t>float</a:t>
            </a:r>
            <a:r>
              <a:rPr lang="en-US" altLang="en-US" sz="3000" dirty="0" smtClean="0"/>
              <a:t> and put the result into the variable </a:t>
            </a:r>
            <a:r>
              <a:rPr lang="en-US" altLang="en-US" sz="3000" dirty="0" err="1" smtClean="0"/>
              <a:t>nValue</a:t>
            </a:r>
            <a:r>
              <a:rPr lang="en-US" altLang="en-US" sz="3000" dirty="0" smtClean="0"/>
              <a:t>?</a:t>
            </a: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2390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to use?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412340"/>
              </p:ext>
            </p:extLst>
          </p:nvPr>
        </p:nvGraphicFramePr>
        <p:xfrm>
          <a:off x="1181100" y="3810000"/>
          <a:ext cx="723900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sValue</a:t>
                      </a:r>
                      <a:r>
                        <a:rPr lang="en-US" sz="2000" dirty="0" smtClean="0"/>
                        <a:t> = "123.45"</a:t>
                      </a:r>
                    </a:p>
                    <a:p>
                      <a:r>
                        <a:rPr lang="en-US" sz="2000" dirty="0" err="1" smtClean="0"/>
                        <a:t>nValue</a:t>
                      </a:r>
                      <a:r>
                        <a:rPr lang="en-US" sz="2000" dirty="0" smtClean="0"/>
                        <a:t> = float(</a:t>
                      </a:r>
                      <a:r>
                        <a:rPr lang="en-US" sz="2000" dirty="0" err="1" smtClean="0"/>
                        <a:t>sValue</a:t>
                      </a:r>
                      <a:r>
                        <a:rPr lang="en-US" sz="2000" dirty="0" smtClean="0"/>
                        <a:t>)</a:t>
                      </a:r>
                    </a:p>
                    <a:p>
                      <a:endParaRPr lang="en-US" sz="2000" dirty="0" smtClean="0"/>
                    </a:p>
                    <a:p>
                      <a:r>
                        <a:rPr lang="en-US" sz="2000" dirty="0" smtClean="0"/>
                        <a:t>In</a:t>
                      </a:r>
                      <a:r>
                        <a:rPr lang="en-US" sz="2000" baseline="0" dirty="0" smtClean="0"/>
                        <a:t> computer memory it looks like this: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410200" y="6059488"/>
            <a:ext cx="6096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123.45</a:t>
            </a:r>
            <a:endParaRPr lang="en-US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33600" y="5257800"/>
            <a:ext cx="556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66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 err="1" smtClean="0"/>
              <a:t>nValue</a:t>
            </a:r>
            <a:r>
              <a:rPr lang="en-US" sz="1800" noProof="1" smtClean="0"/>
              <a:t> </a:t>
            </a:r>
            <a:r>
              <a:rPr lang="en-US" sz="1800" noProof="1"/>
              <a:t>= </a:t>
            </a:r>
            <a:r>
              <a:rPr lang="en-US" sz="1800" noProof="1" smtClean="0">
                <a:solidFill>
                  <a:srgbClr val="0099FF"/>
                </a:solidFill>
              </a:rPr>
              <a:t>float</a:t>
            </a:r>
            <a:r>
              <a:rPr lang="en-US" sz="1800" noProof="1" smtClean="0"/>
              <a:t>(sValue)</a:t>
            </a:r>
            <a:endParaRPr lang="en-US" sz="1800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362200" y="6059488"/>
            <a:ext cx="21336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0000000000000123.450000000</a:t>
            </a:r>
            <a:endParaRPr 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 flipV="1">
            <a:off x="4495800" y="6197987"/>
            <a:ext cx="914400" cy="13901"/>
          </a:xfrm>
          <a:prstGeom prst="line">
            <a:avLst/>
          </a:prstGeom>
          <a:noFill/>
          <a:ln w="666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562600" y="5562600"/>
            <a:ext cx="0" cy="3810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114800" y="5562600"/>
            <a:ext cx="0" cy="3810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2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1676400"/>
            <a:ext cx="7467600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3000" dirty="0" err="1" smtClean="0"/>
              <a:t>sValue</a:t>
            </a:r>
            <a:r>
              <a:rPr lang="en-US" altLang="en-US" sz="3000" dirty="0" smtClean="0"/>
              <a:t> = “678”</a:t>
            </a:r>
            <a:br>
              <a:rPr lang="en-US" altLang="en-US" sz="3000" dirty="0" smtClean="0"/>
            </a:br>
            <a:endParaRPr lang="en-US" altLang="en-US" sz="3000" dirty="0" smtClean="0"/>
          </a:p>
          <a:p>
            <a:pPr algn="l"/>
            <a:r>
              <a:rPr lang="en-US" altLang="en-US" sz="3000" dirty="0" smtClean="0"/>
              <a:t>How to convert </a:t>
            </a:r>
            <a:r>
              <a:rPr lang="en-US" altLang="en-US" sz="3000" dirty="0" err="1" smtClean="0"/>
              <a:t>sValue</a:t>
            </a:r>
            <a:r>
              <a:rPr lang="en-US" altLang="en-US" sz="3000" dirty="0" smtClean="0"/>
              <a:t> to an </a:t>
            </a:r>
            <a:r>
              <a:rPr lang="en-US" altLang="en-US" sz="3000" b="1" dirty="0" err="1" smtClean="0"/>
              <a:t>int</a:t>
            </a:r>
            <a:r>
              <a:rPr lang="en-US" altLang="en-US" sz="3000" dirty="0" smtClean="0"/>
              <a:t> and put the result into the variable </a:t>
            </a:r>
            <a:r>
              <a:rPr lang="en-US" altLang="en-US" sz="3000" dirty="0" err="1" smtClean="0"/>
              <a:t>nValue</a:t>
            </a:r>
            <a:r>
              <a:rPr lang="en-US" altLang="en-US" sz="3000" dirty="0" smtClean="0"/>
              <a:t>?</a:t>
            </a: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3152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to use?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609031"/>
              </p:ext>
            </p:extLst>
          </p:nvPr>
        </p:nvGraphicFramePr>
        <p:xfrm>
          <a:off x="1143000" y="3657600"/>
          <a:ext cx="723900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sValue</a:t>
                      </a:r>
                      <a:r>
                        <a:rPr lang="en-US" sz="2000" dirty="0" smtClean="0"/>
                        <a:t> = “678"</a:t>
                      </a:r>
                    </a:p>
                    <a:p>
                      <a:r>
                        <a:rPr lang="en-US" sz="2000" dirty="0" err="1" smtClean="0"/>
                        <a:t>nValue</a:t>
                      </a:r>
                      <a:r>
                        <a:rPr lang="en-US" sz="2000" dirty="0" smtClean="0"/>
                        <a:t> = </a:t>
                      </a:r>
                      <a:r>
                        <a:rPr lang="en-US" sz="2000" dirty="0" err="1" smtClean="0"/>
                        <a:t>int</a:t>
                      </a:r>
                      <a:r>
                        <a:rPr lang="en-US" sz="2000" dirty="0" smtClean="0"/>
                        <a:t>(</a:t>
                      </a:r>
                      <a:r>
                        <a:rPr lang="en-US" sz="2000" dirty="0" err="1" smtClean="0"/>
                        <a:t>sValue</a:t>
                      </a:r>
                      <a:r>
                        <a:rPr lang="en-US" sz="2000" dirty="0" smtClean="0"/>
                        <a:t>)</a:t>
                      </a:r>
                    </a:p>
                    <a:p>
                      <a:endParaRPr lang="en-US" sz="20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In</a:t>
                      </a:r>
                      <a:r>
                        <a:rPr lang="en-US" sz="2000" baseline="0" dirty="0" smtClean="0"/>
                        <a:t> computer memory it looks like this:</a:t>
                      </a: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410200" y="6059488"/>
            <a:ext cx="4572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678</a:t>
            </a:r>
            <a:endParaRPr lang="en-US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133600" y="5257800"/>
            <a:ext cx="556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66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 err="1" smtClean="0"/>
              <a:t>nValue</a:t>
            </a:r>
            <a:r>
              <a:rPr lang="en-US" sz="1800" noProof="1" smtClean="0"/>
              <a:t> </a:t>
            </a:r>
            <a:r>
              <a:rPr lang="en-US" sz="1800" noProof="1"/>
              <a:t>= </a:t>
            </a:r>
            <a:r>
              <a:rPr lang="en-US" sz="1800" noProof="1" smtClean="0">
                <a:solidFill>
                  <a:srgbClr val="0099FF"/>
                </a:solidFill>
              </a:rPr>
              <a:t>float</a:t>
            </a:r>
            <a:r>
              <a:rPr lang="en-US" sz="1800" noProof="1" smtClean="0"/>
              <a:t>(sValue)</a:t>
            </a:r>
            <a:endParaRPr lang="en-US" sz="1800" dirty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895600" y="6059488"/>
            <a:ext cx="16002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000000000000000678</a:t>
            </a:r>
            <a:endParaRPr lang="en-US" dirty="0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H="1" flipV="1">
            <a:off x="4495800" y="6197987"/>
            <a:ext cx="914400" cy="13901"/>
          </a:xfrm>
          <a:prstGeom prst="line">
            <a:avLst/>
          </a:prstGeom>
          <a:noFill/>
          <a:ln w="666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562600" y="5562600"/>
            <a:ext cx="0" cy="3810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4114800" y="5562600"/>
            <a:ext cx="0" cy="3810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7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1828800"/>
            <a:ext cx="7467600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3000" dirty="0" err="1" smtClean="0"/>
              <a:t>nValue</a:t>
            </a:r>
            <a:r>
              <a:rPr lang="en-US" altLang="en-US" sz="3000" dirty="0" smtClean="0"/>
              <a:t> = 98</a:t>
            </a:r>
            <a:br>
              <a:rPr lang="en-US" altLang="en-US" sz="3000" dirty="0" smtClean="0"/>
            </a:br>
            <a:endParaRPr lang="en-US" altLang="en-US" sz="3000" dirty="0" smtClean="0"/>
          </a:p>
          <a:p>
            <a:pPr algn="l"/>
            <a:r>
              <a:rPr lang="en-US" altLang="en-US" sz="3000" dirty="0" smtClean="0"/>
              <a:t>How to convert </a:t>
            </a:r>
            <a:r>
              <a:rPr lang="en-US" altLang="en-US" sz="3000" dirty="0" err="1" smtClean="0"/>
              <a:t>nValue</a:t>
            </a:r>
            <a:r>
              <a:rPr lang="en-US" altLang="en-US" sz="3000" dirty="0" smtClean="0"/>
              <a:t> from an </a:t>
            </a:r>
            <a:r>
              <a:rPr lang="en-US" altLang="en-US" sz="3000" b="1" dirty="0" err="1" smtClean="0"/>
              <a:t>int</a:t>
            </a:r>
            <a:r>
              <a:rPr lang="en-US" altLang="en-US" sz="3000" dirty="0" smtClean="0"/>
              <a:t> to a string and put the result out to the screen?</a:t>
            </a: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3152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to use?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6165"/>
              </p:ext>
            </p:extLst>
          </p:nvPr>
        </p:nvGraphicFramePr>
        <p:xfrm>
          <a:off x="1143000" y="3810000"/>
          <a:ext cx="723900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000" u="none" dirty="0" err="1" smtClean="0"/>
                        <a:t>nValue</a:t>
                      </a:r>
                      <a:r>
                        <a:rPr lang="en-US" sz="2000" u="none" dirty="0" smtClean="0"/>
                        <a:t> = 98</a:t>
                      </a:r>
                    </a:p>
                    <a:p>
                      <a:r>
                        <a:rPr lang="en-US" sz="2000" u="none" dirty="0" smtClean="0"/>
                        <a:t>print(“The value is: “ + </a:t>
                      </a:r>
                      <a:r>
                        <a:rPr lang="en-US" sz="2000" u="none" dirty="0" err="1" smtClean="0"/>
                        <a:t>str</a:t>
                      </a:r>
                      <a:r>
                        <a:rPr lang="en-US" sz="2000" u="none" dirty="0" smtClean="0"/>
                        <a:t>(</a:t>
                      </a:r>
                      <a:r>
                        <a:rPr lang="en-US" sz="2000" u="none" dirty="0" err="1" smtClean="0"/>
                        <a:t>nValue</a:t>
                      </a:r>
                      <a:r>
                        <a:rPr lang="en-US" sz="2000" u="none" dirty="0" smtClean="0"/>
                        <a:t>))</a:t>
                      </a:r>
                    </a:p>
                    <a:p>
                      <a:endParaRPr lang="en-US" sz="2000" u="none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In</a:t>
                      </a:r>
                      <a:r>
                        <a:rPr lang="en-US" sz="2000" baseline="0" dirty="0" smtClean="0"/>
                        <a:t> computer memory it looks like this:</a:t>
                      </a: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352800" y="5943600"/>
            <a:ext cx="3810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98</a:t>
            </a:r>
            <a:endParaRPr lang="en-US" dirty="0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133600" y="5257800"/>
            <a:ext cx="556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66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noProof="1" smtClean="0">
                <a:solidFill>
                  <a:srgbClr val="0099FF"/>
                </a:solidFill>
              </a:rPr>
              <a:t>str</a:t>
            </a:r>
            <a:r>
              <a:rPr lang="en-US" sz="1800" noProof="1" smtClean="0"/>
              <a:t>(nValue)</a:t>
            </a:r>
            <a:endParaRPr lang="en-US" sz="1800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343400" y="5961063"/>
            <a:ext cx="16002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r>
              <a:rPr lang="en-US" dirty="0" smtClean="0"/>
              <a:t>000000000000000098</a:t>
            </a:r>
            <a:endParaRPr lang="en-US" dirty="0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5029200" y="5562600"/>
            <a:ext cx="0" cy="3810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 flipH="1" flipV="1">
            <a:off x="3733800" y="6113463"/>
            <a:ext cx="609600" cy="0"/>
          </a:xfrm>
          <a:prstGeom prst="line">
            <a:avLst/>
          </a:prstGeom>
          <a:noFill/>
          <a:ln w="666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H="1" flipV="1">
            <a:off x="2743200" y="6096000"/>
            <a:ext cx="609600" cy="0"/>
          </a:xfrm>
          <a:prstGeom prst="line">
            <a:avLst/>
          </a:prstGeom>
          <a:noFill/>
          <a:ln w="666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447800" y="5949177"/>
            <a:ext cx="1295400" cy="276999"/>
          </a:xfrm>
          <a:prstGeom prst="rect">
            <a:avLst/>
          </a:prstGeom>
          <a:noFill/>
          <a:ln w="666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dirty="0" smtClean="0"/>
              <a:t>The value is: </a:t>
            </a:r>
            <a:r>
              <a:rPr lang="en-US" u="sng" dirty="0" smtClean="0"/>
              <a:t>98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61487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693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pt-BR" altLang="en-US" sz="2000" b="1" dirty="0">
                <a:solidFill>
                  <a:srgbClr val="92D050"/>
                </a:solidFill>
              </a:rPr>
              <a:t>n_Number1 = </a:t>
            </a:r>
            <a:r>
              <a:rPr lang="pt-BR" altLang="en-US" sz="2000" b="1" dirty="0" smtClean="0">
                <a:solidFill>
                  <a:srgbClr val="92D050"/>
                </a:solidFill>
              </a:rPr>
              <a:t>10</a:t>
            </a:r>
            <a:endParaRPr lang="pt-BR" altLang="en-US" sz="2000" b="1" dirty="0">
              <a:solidFill>
                <a:srgbClr val="92D050"/>
              </a:solidFill>
            </a:endParaRPr>
          </a:p>
          <a:p>
            <a:pPr algn="l"/>
            <a:r>
              <a:rPr lang="pt-BR" altLang="en-US" sz="2000" b="1" dirty="0">
                <a:solidFill>
                  <a:srgbClr val="92D050"/>
                </a:solidFill>
              </a:rPr>
              <a:t>n_Number2 = 3</a:t>
            </a:r>
          </a:p>
          <a:p>
            <a:pPr algn="l"/>
            <a:r>
              <a:rPr lang="pt-BR" altLang="en-US" sz="2000" b="1" dirty="0">
                <a:solidFill>
                  <a:srgbClr val="92D050"/>
                </a:solidFill>
              </a:rPr>
              <a:t>n_Result = 0</a:t>
            </a:r>
          </a:p>
          <a:p>
            <a:pPr algn="l"/>
            <a:r>
              <a:rPr lang="pt-BR" altLang="en-US" sz="2000" b="1" dirty="0" smtClean="0">
                <a:solidFill>
                  <a:srgbClr val="92D050"/>
                </a:solidFill>
              </a:rPr>
              <a:t>n_Result </a:t>
            </a:r>
            <a:r>
              <a:rPr lang="pt-BR" altLang="en-US" sz="2000" b="1" dirty="0">
                <a:solidFill>
                  <a:srgbClr val="92D050"/>
                </a:solidFill>
              </a:rPr>
              <a:t>= n_Number1 // n_Number2</a:t>
            </a:r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3152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69727"/>
              </p:ext>
            </p:extLst>
          </p:nvPr>
        </p:nvGraphicFramePr>
        <p:xfrm>
          <a:off x="1181100" y="3962400"/>
          <a:ext cx="7239000" cy="843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r>
                        <a:rPr lang="en-US" sz="2000" u="sng" dirty="0" smtClean="0"/>
                        <a:t>3</a:t>
                      </a:r>
                      <a:r>
                        <a:rPr lang="en-US" sz="2000" dirty="0" smtClean="0"/>
                        <a:t> because it keeps the whole number</a:t>
                      </a:r>
                      <a:r>
                        <a:rPr lang="en-US" sz="2000" baseline="0" dirty="0" smtClean="0"/>
                        <a:t> portion and discards the decimal values.  This is called integer division. 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61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770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pt-BR" altLang="en-US" sz="2000" b="1" dirty="0" smtClean="0">
                <a:solidFill>
                  <a:srgbClr val="92D050"/>
                </a:solidFill>
              </a:rPr>
              <a:t>n_Result </a:t>
            </a:r>
            <a:r>
              <a:rPr lang="pt-BR" altLang="en-US" sz="2000" b="1" dirty="0">
                <a:solidFill>
                  <a:srgbClr val="92D050"/>
                </a:solidFill>
              </a:rPr>
              <a:t>= 11 / 2</a:t>
            </a:r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08182"/>
              </p:ext>
            </p:extLst>
          </p:nvPr>
        </p:nvGraphicFramePr>
        <p:xfrm>
          <a:off x="1181100" y="3618178"/>
          <a:ext cx="7239000" cy="843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r>
                        <a:rPr lang="en-US" sz="2000" u="sng" dirty="0" smtClean="0"/>
                        <a:t>5.5</a:t>
                      </a:r>
                      <a:r>
                        <a:rPr lang="en-US" sz="2000" dirty="0" smtClean="0"/>
                        <a:t> because it</a:t>
                      </a:r>
                      <a:r>
                        <a:rPr lang="en-US" sz="2000" baseline="0" dirty="0" smtClean="0"/>
                        <a:t> keeps</a:t>
                      </a:r>
                      <a:r>
                        <a:rPr lang="en-US" sz="2000" dirty="0" smtClean="0"/>
                        <a:t> the entire result.</a:t>
                      </a:r>
                      <a:r>
                        <a:rPr lang="en-US" sz="2000" baseline="0" dirty="0" smtClean="0"/>
                        <a:t>  This is called floating point division. 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13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770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pt-BR" altLang="en-US" sz="2000" b="1" dirty="0">
                <a:solidFill>
                  <a:srgbClr val="92D050"/>
                </a:solidFill>
              </a:rPr>
              <a:t>n_Result = 17 % 5</a:t>
            </a:r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47298"/>
              </p:ext>
            </p:extLst>
          </p:nvPr>
        </p:nvGraphicFramePr>
        <p:xfrm>
          <a:off x="1181100" y="3618178"/>
          <a:ext cx="7239000" cy="843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r>
                        <a:rPr lang="en-US" sz="2000" u="sng" dirty="0" smtClean="0"/>
                        <a:t>2</a:t>
                      </a:r>
                      <a:r>
                        <a:rPr lang="en-US" sz="2000" dirty="0" smtClean="0"/>
                        <a:t> because it</a:t>
                      </a:r>
                      <a:r>
                        <a:rPr lang="en-US" sz="2000" baseline="0" dirty="0" smtClean="0"/>
                        <a:t> calculates</a:t>
                      </a:r>
                      <a:r>
                        <a:rPr lang="en-US" sz="2000" dirty="0" smtClean="0"/>
                        <a:t> the </a:t>
                      </a:r>
                      <a:r>
                        <a:rPr lang="en-US" sz="2000" u="sng" dirty="0" smtClean="0"/>
                        <a:t>remainder only</a:t>
                      </a:r>
                      <a:r>
                        <a:rPr lang="en-US" sz="2000" dirty="0" smtClean="0"/>
                        <a:t>.  5</a:t>
                      </a:r>
                      <a:r>
                        <a:rPr lang="en-US" sz="2000" baseline="0" dirty="0" smtClean="0"/>
                        <a:t> divided into 17 is 3 with a remainder of 2. 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6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2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000" dirty="0" err="1" smtClean="0">
                <a:solidFill>
                  <a:srgbClr val="92D050"/>
                </a:solidFill>
              </a:rPr>
              <a:t>n_Result</a:t>
            </a:r>
            <a:r>
              <a:rPr lang="en-US" altLang="en-US" sz="2000" dirty="0" smtClean="0">
                <a:solidFill>
                  <a:srgbClr val="92D050"/>
                </a:solidFill>
              </a:rPr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= 10.0 + 6 / </a:t>
            </a:r>
            <a:r>
              <a:rPr lang="en-US" altLang="en-US" sz="2000" dirty="0" smtClean="0">
                <a:solidFill>
                  <a:srgbClr val="92D050"/>
                </a:solidFill>
              </a:rPr>
              <a:t>2</a:t>
            </a:r>
            <a:endParaRPr lang="pt-BR" altLang="en-US" sz="2000" b="1" dirty="0" smtClean="0">
              <a:solidFill>
                <a:srgbClr val="92D050"/>
              </a:solidFill>
            </a:endParaRPr>
          </a:p>
          <a:p>
            <a:pPr algn="l"/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45886"/>
              </p:ext>
            </p:extLst>
          </p:nvPr>
        </p:nvGraphicFramePr>
        <p:xfrm>
          <a:off x="1181100" y="3618178"/>
          <a:ext cx="72390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r>
                        <a:rPr lang="en-US" sz="2000" u="sng" dirty="0" smtClean="0"/>
                        <a:t>13.0</a:t>
                      </a:r>
                      <a:r>
                        <a:rPr lang="en-US" sz="2000" dirty="0" smtClean="0"/>
                        <a:t> because this</a:t>
                      </a:r>
                      <a:r>
                        <a:rPr lang="en-US" sz="2000" baseline="0" dirty="0" smtClean="0"/>
                        <a:t> happens in this order: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aseline="0" dirty="0" smtClean="0"/>
                        <a:t>6 is divided by 2 which gives 3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aseline="0" dirty="0" smtClean="0"/>
                        <a:t>10.0 is added with 3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baseline="0" dirty="0" smtClean="0"/>
                        <a:t>The answer becomes 13.0 because 10.0 is a float 3 is converted to 3.0 than added to 10.0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23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2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000" dirty="0" err="1" smtClean="0">
                <a:solidFill>
                  <a:srgbClr val="92D050"/>
                </a:solidFill>
              </a:rPr>
              <a:t>n_Result</a:t>
            </a:r>
            <a:r>
              <a:rPr lang="en-US" altLang="en-US" sz="2000" dirty="0" smtClean="0">
                <a:solidFill>
                  <a:srgbClr val="92D050"/>
                </a:solidFill>
              </a:rPr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= </a:t>
            </a:r>
            <a:r>
              <a:rPr lang="en-US" altLang="en-US" sz="2000" dirty="0" smtClean="0">
                <a:solidFill>
                  <a:srgbClr val="92D050"/>
                </a:solidFill>
              </a:rPr>
              <a:t>(10.0 </a:t>
            </a:r>
            <a:r>
              <a:rPr lang="en-US" altLang="en-US" sz="2000" dirty="0">
                <a:solidFill>
                  <a:srgbClr val="92D050"/>
                </a:solidFill>
              </a:rPr>
              <a:t>+ </a:t>
            </a:r>
            <a:r>
              <a:rPr lang="en-US" altLang="en-US" sz="2000" dirty="0" smtClean="0">
                <a:solidFill>
                  <a:srgbClr val="92D050"/>
                </a:solidFill>
              </a:rPr>
              <a:t>6) </a:t>
            </a:r>
            <a:r>
              <a:rPr lang="en-US" altLang="en-US" sz="2000" dirty="0">
                <a:solidFill>
                  <a:srgbClr val="92D050"/>
                </a:solidFill>
              </a:rPr>
              <a:t>/ </a:t>
            </a:r>
            <a:r>
              <a:rPr lang="en-US" altLang="en-US" sz="2000" dirty="0" smtClean="0">
                <a:solidFill>
                  <a:srgbClr val="92D050"/>
                </a:solidFill>
              </a:rPr>
              <a:t>2</a:t>
            </a:r>
            <a:endParaRPr lang="pt-BR" altLang="en-US" sz="2000" b="1" dirty="0" smtClean="0">
              <a:solidFill>
                <a:srgbClr val="92D050"/>
              </a:solidFill>
            </a:endParaRPr>
          </a:p>
          <a:p>
            <a:pPr algn="l"/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15588"/>
              </p:ext>
            </p:extLst>
          </p:nvPr>
        </p:nvGraphicFramePr>
        <p:xfrm>
          <a:off x="1181100" y="3618178"/>
          <a:ext cx="72390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8.0 because this happens in this order: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10.0 is added with 6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The answer becomes 16.0 because 10.0 is a float 6 is converted to 6.0 than added to 10.0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16.0 is then divided by 2</a:t>
                      </a:r>
                      <a:endParaRPr lang="en-US" sz="2000" b="1" u="sng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06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2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000" dirty="0" err="1" smtClean="0">
                <a:solidFill>
                  <a:srgbClr val="92D050"/>
                </a:solidFill>
              </a:rPr>
              <a:t>n_Result</a:t>
            </a:r>
            <a:r>
              <a:rPr lang="en-US" altLang="en-US" sz="2000" dirty="0" smtClean="0">
                <a:solidFill>
                  <a:srgbClr val="92D050"/>
                </a:solidFill>
              </a:rPr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= </a:t>
            </a:r>
            <a:r>
              <a:rPr lang="en-US" altLang="en-US" sz="2000" dirty="0" smtClean="0">
                <a:solidFill>
                  <a:srgbClr val="92D050"/>
                </a:solidFill>
              </a:rPr>
              <a:t>3.0 ** 2</a:t>
            </a:r>
            <a:endParaRPr lang="pt-BR" altLang="en-US" sz="2000" b="1" dirty="0" smtClean="0">
              <a:solidFill>
                <a:srgbClr val="92D050"/>
              </a:solidFill>
            </a:endParaRPr>
          </a:p>
          <a:p>
            <a:pPr algn="l"/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56245"/>
              </p:ext>
            </p:extLst>
          </p:nvPr>
        </p:nvGraphicFramePr>
        <p:xfrm>
          <a:off x="1181100" y="3618178"/>
          <a:ext cx="7239000" cy="843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9.0 because this happens in this order: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3.0 is raided to the second power which is 3.0 x 3.0</a:t>
                      </a:r>
                      <a:endParaRPr lang="en-US" sz="2000" b="1" u="sng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0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2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000" dirty="0" err="1" smtClean="0">
                <a:solidFill>
                  <a:srgbClr val="92D050"/>
                </a:solidFill>
              </a:rPr>
              <a:t>n_Result</a:t>
            </a:r>
            <a:r>
              <a:rPr lang="en-US" altLang="en-US" sz="2000" dirty="0" smtClean="0">
                <a:solidFill>
                  <a:srgbClr val="92D050"/>
                </a:solidFill>
              </a:rPr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= </a:t>
            </a:r>
            <a:r>
              <a:rPr lang="en-US" altLang="en-US" sz="2000" dirty="0" smtClean="0">
                <a:solidFill>
                  <a:srgbClr val="92D050"/>
                </a:solidFill>
              </a:rPr>
              <a:t>(24 + 2) // 3</a:t>
            </a:r>
            <a:endParaRPr lang="pt-BR" altLang="en-US" sz="2000" b="1" dirty="0" smtClean="0">
              <a:solidFill>
                <a:srgbClr val="92D050"/>
              </a:solidFill>
            </a:endParaRPr>
          </a:p>
          <a:p>
            <a:pPr algn="l"/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01466"/>
              </p:ext>
            </p:extLst>
          </p:nvPr>
        </p:nvGraphicFramePr>
        <p:xfrm>
          <a:off x="1181100" y="3618178"/>
          <a:ext cx="7239000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 because this happens in this order: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24 + 2 becomes 26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26 is divided by 3 giving the result of 8.666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Because this is integer division the .666 is discarded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Answer becomes 8</a:t>
                      </a:r>
                      <a:endParaRPr lang="en-US" sz="2000" b="1" u="sng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74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123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000" dirty="0" err="1" smtClean="0">
                <a:solidFill>
                  <a:srgbClr val="92D050"/>
                </a:solidFill>
              </a:rPr>
              <a:t>n_Result</a:t>
            </a:r>
            <a:r>
              <a:rPr lang="en-US" altLang="en-US" sz="2000" dirty="0" smtClean="0">
                <a:solidFill>
                  <a:srgbClr val="92D050"/>
                </a:solidFill>
              </a:rPr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= </a:t>
            </a:r>
            <a:r>
              <a:rPr lang="en-US" altLang="en-US" sz="2000" dirty="0" smtClean="0">
                <a:solidFill>
                  <a:srgbClr val="92D050"/>
                </a:solidFill>
              </a:rPr>
              <a:t>3 + 2 ** 3</a:t>
            </a:r>
            <a:endParaRPr lang="pt-BR" altLang="en-US" sz="2000" b="1" dirty="0" smtClean="0">
              <a:solidFill>
                <a:srgbClr val="92D050"/>
              </a:solidFill>
            </a:endParaRPr>
          </a:p>
          <a:p>
            <a:pPr algn="l"/>
            <a:r>
              <a:rPr lang="en-US" altLang="en-US" sz="3000" dirty="0" smtClean="0"/>
              <a:t/>
            </a:r>
            <a:br>
              <a:rPr lang="en-US" altLang="en-US" sz="3000" dirty="0" smtClean="0"/>
            </a:br>
            <a:endParaRPr lang="en-US" altLang="en-US" sz="2400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022718"/>
              </p:ext>
            </p:extLst>
          </p:nvPr>
        </p:nvGraphicFramePr>
        <p:xfrm>
          <a:off x="1181100" y="3618178"/>
          <a:ext cx="723900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11 because this happens in this order: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 is raised to the 3 power 2 x 2 x 2 which is 8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 is added to 8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Answer becomes 11</a:t>
                      </a:r>
                      <a:endParaRPr lang="en-US" sz="2000" b="1" u="sng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23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400" dirty="0" err="1">
                <a:solidFill>
                  <a:srgbClr val="92D050"/>
                </a:solidFill>
              </a:rPr>
              <a:t>nNumber</a:t>
            </a:r>
            <a:r>
              <a:rPr lang="en-US" altLang="en-US" sz="2400" dirty="0">
                <a:solidFill>
                  <a:srgbClr val="92D050"/>
                </a:solidFill>
              </a:rPr>
              <a:t> = </a:t>
            </a:r>
            <a:r>
              <a:rPr lang="en-US" altLang="en-US" sz="2400" dirty="0" smtClean="0">
                <a:solidFill>
                  <a:srgbClr val="92D050"/>
                </a:solidFill>
              </a:rPr>
              <a:t>45135.8967</a:t>
            </a:r>
            <a:endParaRPr lang="en-US" altLang="en-US" sz="2400" dirty="0">
              <a:solidFill>
                <a:srgbClr val="92D050"/>
              </a:solidFill>
            </a:endParaRPr>
          </a:p>
          <a:p>
            <a:pPr algn="l"/>
            <a:r>
              <a:rPr lang="en-US" altLang="en-US" sz="2400" dirty="0">
                <a:solidFill>
                  <a:srgbClr val="92D050"/>
                </a:solidFill>
              </a:rPr>
              <a:t>print( format(</a:t>
            </a:r>
            <a:r>
              <a:rPr lang="en-US" altLang="en-US" sz="2400" dirty="0" err="1">
                <a:solidFill>
                  <a:srgbClr val="92D050"/>
                </a:solidFill>
              </a:rPr>
              <a:t>nNumber</a:t>
            </a:r>
            <a:r>
              <a:rPr lang="en-US" altLang="en-US" sz="2400" dirty="0">
                <a:solidFill>
                  <a:srgbClr val="92D050"/>
                </a:solidFill>
              </a:rPr>
              <a:t>, ",.3f") )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037276"/>
              </p:ext>
            </p:extLst>
          </p:nvPr>
        </p:nvGraphicFramePr>
        <p:xfrm>
          <a:off x="1181100" y="4202953"/>
          <a:ext cx="7239000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45,135.897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The , tells Python to put in a thousands separator 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3f tells Python to display three decimal positions and rounds to .897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03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066800" y="2047875"/>
            <a:ext cx="7467600" cy="831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altLang="en-US" sz="2400" dirty="0" err="1">
                <a:solidFill>
                  <a:srgbClr val="92D050"/>
                </a:solidFill>
              </a:rPr>
              <a:t>nNumber</a:t>
            </a:r>
            <a:r>
              <a:rPr lang="en-US" altLang="en-US" sz="2400" dirty="0">
                <a:solidFill>
                  <a:srgbClr val="92D050"/>
                </a:solidFill>
              </a:rPr>
              <a:t> = 5.9781</a:t>
            </a:r>
          </a:p>
          <a:p>
            <a:pPr algn="l"/>
            <a:r>
              <a:rPr lang="en-US" altLang="en-US" sz="2400" dirty="0">
                <a:solidFill>
                  <a:srgbClr val="92D050"/>
                </a:solidFill>
              </a:rPr>
              <a:t>print( format(</a:t>
            </a:r>
            <a:r>
              <a:rPr lang="en-US" altLang="en-US" sz="2400" dirty="0" err="1">
                <a:solidFill>
                  <a:srgbClr val="92D050"/>
                </a:solidFill>
              </a:rPr>
              <a:t>nNumber</a:t>
            </a:r>
            <a:r>
              <a:rPr lang="en-US" altLang="en-US" sz="2400" dirty="0">
                <a:solidFill>
                  <a:srgbClr val="92D050"/>
                </a:solidFill>
              </a:rPr>
              <a:t>, "10.2f")  )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162800" cy="1143000"/>
          </a:xfrm>
          <a:noFill/>
        </p:spPr>
        <p:txBody>
          <a:bodyPr/>
          <a:lstStyle/>
          <a:p>
            <a:pPr algn="l" eaLnBrk="1" hangingPunct="1"/>
            <a:r>
              <a:rPr lang="en-US" altLang="en-US" dirty="0" smtClean="0"/>
              <a:t>What is the answer?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121880"/>
              </p:ext>
            </p:extLst>
          </p:nvPr>
        </p:nvGraphicFramePr>
        <p:xfrm>
          <a:off x="1076325" y="3200400"/>
          <a:ext cx="72390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/>
              </a:tblGrid>
              <a:tr h="843069">
                <a:tc>
                  <a:txBody>
                    <a:bodyPr/>
                    <a:lstStyle/>
                    <a:p>
                      <a:pPr algn="l" defTabSz="914400" rtl="0" eaLnBrk="1" latinLnBrk="0" hangingPunct="1"/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------5.98 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The 10 tells Python the output should take up 10 spaces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The output should be right aligned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2f rounds to two decimal positions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 this example there are six leading spaces followed by 5.98</a:t>
                      </a:r>
                    </a:p>
                    <a:p>
                      <a:pPr marL="342900" indent="-342900" algn="l" defTabSz="914400" rtl="0" eaLnBrk="1" latinLnBrk="0" hangingPunct="1">
                        <a:buFont typeface="+mj-lt"/>
                        <a:buAutoNum type="arabicPeriod"/>
                      </a:pPr>
                      <a:endParaRPr lang="en-US" sz="2000" b="1" u="sng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sz="2000" b="1" u="sng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Note: You use this feature to get all the output to line up in a columnar format.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53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66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66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CCECFF"/>
    </a:lt1>
    <a:dk2>
      <a:srgbClr val="000000"/>
    </a:dk2>
    <a:lt2>
      <a:srgbClr val="DDDDDD"/>
    </a:lt2>
    <a:accent1>
      <a:srgbClr val="98BDD6"/>
    </a:accent1>
    <a:accent2>
      <a:srgbClr val="868686"/>
    </a:accent2>
    <a:accent3>
      <a:srgbClr val="E2F4FF"/>
    </a:accent3>
    <a:accent4>
      <a:srgbClr val="000000"/>
    </a:accent4>
    <a:accent5>
      <a:srgbClr val="CADBE8"/>
    </a:accent5>
    <a:accent6>
      <a:srgbClr val="797979"/>
    </a:accent6>
    <a:hlink>
      <a:srgbClr val="4D4D4D"/>
    </a:hlink>
    <a:folHlink>
      <a:srgbClr val="77777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Designs\Notebook.pot</Template>
  <TotalTime>3712</TotalTime>
  <Words>936</Words>
  <Application>Microsoft Office PowerPoint</Application>
  <PresentationFormat>On-screen Show (4:3)</PresentationFormat>
  <Paragraphs>155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Notebook</vt:lpstr>
      <vt:lpstr>PowerPoint Presentation</vt:lpstr>
      <vt:lpstr>Python Arithmetic Operators</vt:lpstr>
      <vt:lpstr>Python Arithmetic Operators</vt:lpstr>
      <vt:lpstr>Python Mixing Data Types </vt:lpstr>
      <vt:lpstr>Python Data Type Conversions -Casting </vt:lpstr>
      <vt:lpstr>Python Formatting</vt:lpstr>
      <vt:lpstr>Python Formatting</vt:lpstr>
      <vt:lpstr>Python Named Constants</vt:lpstr>
      <vt:lpstr>What to use?</vt:lpstr>
      <vt:lpstr>What to use?</vt:lpstr>
      <vt:lpstr>What to use?</vt:lpstr>
      <vt:lpstr>What is the answer?</vt:lpstr>
      <vt:lpstr>What is the answer?</vt:lpstr>
      <vt:lpstr>What is the answer?</vt:lpstr>
      <vt:lpstr>What is the answer?</vt:lpstr>
      <vt:lpstr>What is the answer?</vt:lpstr>
      <vt:lpstr>What is the answer?</vt:lpstr>
      <vt:lpstr>What is the answer?</vt:lpstr>
      <vt:lpstr>What is the answer?</vt:lpstr>
      <vt:lpstr>What is the answer?</vt:lpstr>
      <vt:lpstr>What is the answer?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Saw &amp; Mfg. Company</dc:title>
  <dc:creator>Tim Barry</dc:creator>
  <cp:lastModifiedBy>blcandido</cp:lastModifiedBy>
  <cp:revision>483</cp:revision>
  <cp:lastPrinted>1998-01-07T20:33:54Z</cp:lastPrinted>
  <dcterms:created xsi:type="dcterms:W3CDTF">1995-06-10T17:31:50Z</dcterms:created>
  <dcterms:modified xsi:type="dcterms:W3CDTF">2018-09-19T01:48:58Z</dcterms:modified>
</cp:coreProperties>
</file>